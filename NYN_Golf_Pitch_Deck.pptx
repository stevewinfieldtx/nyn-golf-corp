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2072" y="1475482"/>
            <a:ext cx="341985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NYN GOLF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619500" y="2313682"/>
            <a:ext cx="1905000" cy="28575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33865" y="2570857"/>
            <a:ext cx="487627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6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133865" y="3092797"/>
            <a:ext cx="487627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9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Luxury Golf Experiences Worth Bragging About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153082" y="4633020"/>
            <a:ext cx="28378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Investor Presentation • January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251942"/>
            <a:ext cx="3862387" cy="107037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251942"/>
            <a:ext cx="0" cy="1070372"/>
          </a:xfrm>
          <a:prstGeom prst="line">
            <a:avLst/>
          </a:prstGeom>
          <a:noFill/>
          <a:ln w="38100">
            <a:solidFill>
              <a:srgbClr val="2C8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423392"/>
            <a:ext cx="3551015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C8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$41.87B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590550" y="1977628"/>
            <a:ext cx="35510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75"/>
              </a:spcBef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Golf Tourism by 2030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493764"/>
            <a:ext cx="3862387" cy="107037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493764"/>
            <a:ext cx="0" cy="1070372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0550" y="2665214"/>
            <a:ext cx="3551015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$1B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90550" y="3219450"/>
            <a:ext cx="35510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75"/>
              </a:spcBef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Golf Tourism Target (2025)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3735586"/>
            <a:ext cx="3862387" cy="107037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3735586"/>
            <a:ext cx="0" cy="1070372"/>
          </a:xfrm>
          <a:prstGeom prst="line">
            <a:avLst/>
          </a:prstGeom>
          <a:noFill/>
          <a:ln w="38100">
            <a:solidFill>
              <a:srgbClr val="1B4B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550" y="3907036"/>
            <a:ext cx="3551015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6x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590550" y="4461272"/>
            <a:ext cx="35510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75"/>
              </a:spcBef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 Tourists Spend vs Average Visitors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481513" y="2276177"/>
            <a:ext cx="4281488" cy="1505545"/>
          </a:xfrm>
          <a:prstGeom prst="roundRect">
            <a:avLst>
              <a:gd name="adj" fmla="val 5061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91063" y="2485727"/>
            <a:ext cx="393963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"Asia's Best Golf Destination"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91063" y="2839938"/>
            <a:ext cx="393963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135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consecutive years (2017-2024)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691063" y="3225701"/>
            <a:ext cx="393963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Greg Norman appointed Vietnam Golf Tourism Ambassador 2025-2030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7180" y="1066800"/>
            <a:ext cx="854964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golf experiences combining championship courses with authentic Vietnamese cultural immersion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381000" y="1407765"/>
            <a:ext cx="2705100" cy="2872829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9966" y="2501354"/>
            <a:ext cx="248716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75"/>
              </a:spcAft>
              <a:buNone/>
            </a:pPr>
            <a:r>
              <a:rPr lang="en-US" sz="1650" dirty="0">
                <a:solidFill>
                  <a:srgbClr val="2C8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🏌️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89966" y="2842320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World-Class Courses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89966" y="3053655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Greg Norman, Nick Faldo, Colin Montgomerie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19450" y="1407765"/>
            <a:ext cx="2705100" cy="2872829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28416" y="2501354"/>
            <a:ext cx="248716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75"/>
              </a:spcAft>
              <a:buNone/>
            </a:pPr>
            <a:r>
              <a:rPr lang="en-US" sz="165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🏯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328416" y="2842320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Immersion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328416" y="3053655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 sites, Michelin dining, authentic experiences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057900" y="1407765"/>
            <a:ext cx="2705100" cy="2872829"/>
          </a:xfrm>
          <a:prstGeom prst="roundRect">
            <a:avLst>
              <a:gd name="adj" fmla="val 28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66866" y="2501354"/>
            <a:ext cx="248716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75"/>
              </a:spcAft>
              <a:buNone/>
            </a:pPr>
            <a:r>
              <a:rPr lang="en-US" sz="1650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✨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166866" y="2842320"/>
            <a:ext cx="24871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Luxury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166866" y="3053655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$70-$150 green fees vs $300-$600 US/Europe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1000" y="4394895"/>
            <a:ext cx="8382000" cy="415230"/>
          </a:xfrm>
          <a:prstGeom prst="roundRect">
            <a:avLst>
              <a:gd name="adj" fmla="val 18351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13766" y="4509195"/>
            <a:ext cx="83164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6-10 Day Packages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starting at </a:t>
            </a:r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$3,500/person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NYN Golf Wins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858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C8C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1085850"/>
            <a:ext cx="14995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On-Ground Presence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76300" y="1287661"/>
            <a:ext cx="14995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founder living in Vietnam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81000" y="15621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6300" y="1562100"/>
            <a:ext cx="16495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Operations Expertise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876300" y="1763911"/>
            <a:ext cx="1649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corporate events, 41 countries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20383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B4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6300" y="2038350"/>
            <a:ext cx="17761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"Life Experience" Positioning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76300" y="2240161"/>
            <a:ext cx="17761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Golf + culture, trips worth bragging about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5146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6300" y="2514600"/>
            <a:ext cx="16068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Affirm BNPL Financing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76300" y="2716411"/>
            <a:ext cx="16068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conversions, 97% cash upfront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05325" y="1085850"/>
            <a:ext cx="4257675" cy="3724275"/>
          </a:xfrm>
          <a:prstGeom prst="roundRect">
            <a:avLst>
              <a:gd name="adj" fmla="val 204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76775" y="1257300"/>
            <a:ext cx="39930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Competitors Miss The Mark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4676775" y="1571625"/>
            <a:ext cx="3914775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76775" y="1914525"/>
            <a:ext cx="3914775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76775" y="2257425"/>
            <a:ext cx="3914775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76775" y="2638425"/>
            <a:ext cx="3914775" cy="323850"/>
          </a:xfrm>
          <a:prstGeom prst="roundRect">
            <a:avLst>
              <a:gd name="adj" fmla="val 11765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34782" y="2733675"/>
            <a:ext cx="37987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offer BNPL financing options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Projections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85850"/>
            <a:ext cx="2692450" cy="2493913"/>
          </a:xfrm>
          <a:prstGeom prst="roundRect">
            <a:avLst>
              <a:gd name="adj" fmla="val 30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104900"/>
            <a:ext cx="2692450" cy="0"/>
          </a:xfrm>
          <a:prstGeom prst="line">
            <a:avLst/>
          </a:prstGeom>
          <a:noFill/>
          <a:ln w="38100">
            <a:solidFill>
              <a:srgbClr val="2C8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0093" y="1257300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90093" y="1438275"/>
            <a:ext cx="247426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950" b="1" dirty="0">
                <a:solidFill>
                  <a:srgbClr val="2C8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$68K Net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90093" y="1832521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trips • $640K rev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225850" y="1085850"/>
            <a:ext cx="2692450" cy="2493913"/>
          </a:xfrm>
          <a:prstGeom prst="roundRect">
            <a:avLst>
              <a:gd name="adj" fmla="val 30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25850" y="1104900"/>
            <a:ext cx="2692450" cy="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4942" y="1257300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34942" y="1438275"/>
            <a:ext cx="247426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9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$319K Net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334942" y="1832521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trips • $1.3M rev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070699" y="1085850"/>
            <a:ext cx="2692450" cy="2493913"/>
          </a:xfrm>
          <a:prstGeom prst="roundRect">
            <a:avLst>
              <a:gd name="adj" fmla="val 30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70699" y="1104900"/>
            <a:ext cx="2692450" cy="0"/>
          </a:xfrm>
          <a:prstGeom prst="line">
            <a:avLst/>
          </a:prstGeom>
          <a:noFill/>
          <a:ln w="38100">
            <a:solidFill>
              <a:srgbClr val="1B4B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9792" y="1257300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179792" y="1438275"/>
            <a:ext cx="247426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1950" b="1" dirty="0">
                <a:solidFill>
                  <a:srgbClr val="1B4B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$806K Net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179792" y="1832521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trips • $2.6M rev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81000" y="3713113"/>
            <a:ext cx="1995487" cy="626566"/>
          </a:xfrm>
          <a:prstGeom prst="roundRect">
            <a:avLst>
              <a:gd name="adj" fmla="val 12162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631" y="3827413"/>
            <a:ext cx="18022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77631" y="3985468"/>
            <a:ext cx="18022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Trips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509838" y="3713113"/>
            <a:ext cx="1995487" cy="626566"/>
          </a:xfrm>
          <a:prstGeom prst="roundRect">
            <a:avLst>
              <a:gd name="adj" fmla="val 12162"/>
            </a:avLst>
          </a:prstGeom>
          <a:solidFill>
            <a:srgbClr val="2C8C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606469" y="3827413"/>
            <a:ext cx="18022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606469" y="3985468"/>
            <a:ext cx="18022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5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638675" y="3713113"/>
            <a:ext cx="1995487" cy="626566"/>
          </a:xfrm>
          <a:prstGeom prst="roundRect">
            <a:avLst>
              <a:gd name="adj" fmla="val 12162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35306" y="3827413"/>
            <a:ext cx="18022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CASH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735306" y="3985468"/>
            <a:ext cx="18022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$98,000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67513" y="3713113"/>
            <a:ext cx="1995487" cy="626566"/>
          </a:xfrm>
          <a:prstGeom prst="roundRect">
            <a:avLst>
              <a:gd name="adj" fmla="val 12162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64144" y="3827413"/>
            <a:ext cx="180222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LTV:CAC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6864144" y="3985468"/>
            <a:ext cx="18022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20:1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81000" y="4473029"/>
            <a:ext cx="8382000" cy="337096"/>
          </a:xfrm>
          <a:prstGeom prst="roundRect">
            <a:avLst>
              <a:gd name="adj" fmla="val 1695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2628" y="4568279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Startup: 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$19,600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Monthly burn: 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$3,100-$3,900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Annual fixed: 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$44,400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Funds: $50,000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85850"/>
            <a:ext cx="45746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STARTUP: $19,600 (39%)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1346746"/>
            <a:ext cx="4484936" cy="666750"/>
          </a:xfrm>
          <a:prstGeom prst="roundRect">
            <a:avLst>
              <a:gd name="adj" fmla="val 85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250" y="1441996"/>
            <a:ext cx="476250" cy="476250"/>
          </a:xfrm>
          <a:prstGeom prst="roundRect">
            <a:avLst>
              <a:gd name="adj" fmla="val 12000"/>
            </a:avLst>
          </a:prstGeom>
          <a:solidFill>
            <a:srgbClr val="1B4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523851"/>
            <a:ext cx="17064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Licensing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7750" y="1702891"/>
            <a:ext cx="1706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 license, US LLCs, contracts: $8,900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2089696"/>
            <a:ext cx="4484936" cy="666750"/>
          </a:xfrm>
          <a:prstGeom prst="roundRect">
            <a:avLst>
              <a:gd name="adj" fmla="val 85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2184946"/>
            <a:ext cx="476250" cy="476250"/>
          </a:xfrm>
          <a:prstGeom prst="roundRect">
            <a:avLst>
              <a:gd name="adj" fmla="val 1200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7750" y="2266801"/>
            <a:ext cx="1661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&amp; Setup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7750" y="2445841"/>
            <a:ext cx="1661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Liability, accounting, deposits: $10,700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908846"/>
            <a:ext cx="45746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OPERATIONS: $30,400 (61%)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169741"/>
            <a:ext cx="4484936" cy="666750"/>
          </a:xfrm>
          <a:prstGeom prst="roundRect">
            <a:avLst>
              <a:gd name="adj" fmla="val 85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" y="3264991"/>
            <a:ext cx="476250" cy="476250"/>
          </a:xfrm>
          <a:prstGeom prst="roundRect">
            <a:avLst>
              <a:gd name="adj" fmla="val 12000"/>
            </a:avLst>
          </a:prstGeom>
          <a:solidFill>
            <a:srgbClr val="2C8C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47750" y="3346847"/>
            <a:ext cx="13721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Launch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7750" y="3525887"/>
            <a:ext cx="13721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Ads, content, lead gen: $12,000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1000" y="3912691"/>
            <a:ext cx="4484936" cy="666750"/>
          </a:xfrm>
          <a:prstGeom prst="roundRect">
            <a:avLst>
              <a:gd name="adj" fmla="val 85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6250" y="4007941"/>
            <a:ext cx="476250" cy="476250"/>
          </a:xfrm>
          <a:prstGeom prst="roundRect">
            <a:avLst>
              <a:gd name="adj" fmla="val 12000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7750" y="4089797"/>
            <a:ext cx="13049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+ Working Capital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7750" y="4268837"/>
            <a:ext cx="1304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CRM, Affirm, reserve: $18,400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56436" y="1085850"/>
            <a:ext cx="3706564" cy="3724275"/>
          </a:xfrm>
          <a:prstGeom prst="roundRect">
            <a:avLst>
              <a:gd name="adj" fmla="val 2056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27886" y="2151906"/>
            <a:ext cx="34309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Efficiency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80881" y="2452836"/>
            <a:ext cx="2332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cost model — no overhead until trips run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380881" y="2694682"/>
            <a:ext cx="1954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burn: $3,100/mo (lean ops, no admin)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380881" y="2936528"/>
            <a:ext cx="10099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by Month 5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380881" y="3178373"/>
            <a:ext cx="19168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Y1 with $98K cash (2x investment)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227886" y="3458319"/>
            <a:ext cx="3363664" cy="285750"/>
          </a:xfrm>
          <a:prstGeom prst="roundRect">
            <a:avLst>
              <a:gd name="adj" fmla="val 1333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71973" y="3534519"/>
            <a:ext cx="3275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salary:</a:t>
            </a:r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$2K/mo until profitable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Terms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85850"/>
            <a:ext cx="3895725" cy="805755"/>
          </a:xfrm>
          <a:prstGeom prst="roundRect">
            <a:avLst>
              <a:gd name="adj" fmla="val 945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085850"/>
            <a:ext cx="0" cy="805755"/>
          </a:xfrm>
          <a:prstGeom prst="line">
            <a:avLst/>
          </a:prstGeom>
          <a:noFill/>
          <a:ln w="38100">
            <a:solidFill>
              <a:srgbClr val="2C8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238250"/>
            <a:ext cx="3623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AMOUNT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71500" y="1419225"/>
            <a:ext cx="362388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75"/>
              </a:spcBef>
              <a:buNone/>
            </a:pPr>
            <a:r>
              <a:rPr lang="en-US" sz="1800" b="1" dirty="0">
                <a:solidFill>
                  <a:srgbClr val="2C8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$50,000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1000" y="2005905"/>
            <a:ext cx="3895725" cy="887611"/>
          </a:xfrm>
          <a:prstGeom prst="roundRect">
            <a:avLst>
              <a:gd name="adj" fmla="val 85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005905"/>
            <a:ext cx="0" cy="887611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" y="2158305"/>
            <a:ext cx="3623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1500" y="2339280"/>
            <a:ext cx="3623882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spcBef>
                <a:spcPts val="375"/>
              </a:spcBef>
              <a:buNone/>
            </a:pPr>
            <a:r>
              <a:rPr lang="en-US" sz="1275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Note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571500" y="2594521"/>
            <a:ext cx="3623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valuation cap • 20% discount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007816"/>
            <a:ext cx="3895725" cy="645765"/>
          </a:xfrm>
          <a:prstGeom prst="roundRect">
            <a:avLst>
              <a:gd name="adj" fmla="val 118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007816"/>
            <a:ext cx="0" cy="645765"/>
          </a:xfrm>
          <a:prstGeom prst="line">
            <a:avLst/>
          </a:prstGeom>
          <a:noFill/>
          <a:ln w="38100">
            <a:solidFill>
              <a:srgbClr val="1B4B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" y="3160216"/>
            <a:ext cx="3623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71500" y="3341191"/>
            <a:ext cx="3623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Pro-rata • MFN • Quarterly reporting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6275" y="1085850"/>
            <a:ext cx="4276725" cy="3724275"/>
          </a:xfrm>
          <a:prstGeom prst="roundRect">
            <a:avLst>
              <a:gd name="adj" fmla="val 2046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76775" y="1276350"/>
            <a:ext cx="3973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 Investor Benefits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5695" y="1622971"/>
            <a:ext cx="16686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Trip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6 days for 2 (~$8K)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5695" y="1859161"/>
            <a:ext cx="18076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20% Discount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all trips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5695" y="2095351"/>
            <a:ext cx="17431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 Referral Bonus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(vs $500)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5695" y="2331541"/>
            <a:ext cx="14254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Input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strategy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5695" y="2567732"/>
            <a:ext cx="17261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Access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new experiences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2009775" cy="2914799"/>
          </a:xfrm>
          <a:prstGeom prst="roundRect">
            <a:avLst>
              <a:gd name="adj" fmla="val 3791"/>
            </a:avLst>
          </a:prstGeom>
          <a:solidFill>
            <a:srgbClr val="2C8C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200150"/>
            <a:ext cx="17779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514350" y="1377255"/>
            <a:ext cx="1777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spcAft>
                <a:spcPts val="37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514350" y="1624905"/>
            <a:ext cx="17779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relocation • Business setup • Vendor partnerships • Website launch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505075" y="1066800"/>
            <a:ext cx="2009775" cy="2914799"/>
          </a:xfrm>
          <a:prstGeom prst="roundRect">
            <a:avLst>
              <a:gd name="adj" fmla="val 3791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38425" y="1200150"/>
            <a:ext cx="17779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638425" y="1377255"/>
            <a:ext cx="1777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spcAft>
                <a:spcPts val="375"/>
              </a:spcAft>
              <a:buNone/>
            </a:pPr>
            <a:r>
              <a:rPr lang="en-US" sz="1125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638425" y="1624905"/>
            <a:ext cx="17779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bookings • Pilot trip • Testimonials • Marketing ramp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629150" y="1066800"/>
            <a:ext cx="2009775" cy="2914799"/>
          </a:xfrm>
          <a:prstGeom prst="roundRect">
            <a:avLst>
              <a:gd name="adj" fmla="val 3791"/>
            </a:avLst>
          </a:prstGeom>
          <a:solidFill>
            <a:srgbClr val="1B4B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0" y="1200150"/>
            <a:ext cx="17779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762500" y="1377255"/>
            <a:ext cx="1777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spcAft>
                <a:spcPts val="37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762500" y="1624905"/>
            <a:ext cx="17779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season prep • Corporate outreach • Team expansion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753225" y="1066800"/>
            <a:ext cx="2009775" cy="2914799"/>
          </a:xfrm>
          <a:prstGeom prst="roundRect">
            <a:avLst>
              <a:gd name="adj" fmla="val 3791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86575" y="1200150"/>
            <a:ext cx="17779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6886575" y="1377255"/>
            <a:ext cx="1777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spcAft>
                <a:spcPts val="375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886575" y="1624905"/>
            <a:ext cx="17779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season execution • Referral program • Year 2 planning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81000" y="4095899"/>
            <a:ext cx="8382000" cy="714226"/>
          </a:xfrm>
          <a:prstGeom prst="roundRect">
            <a:avLst>
              <a:gd name="adj" fmla="val 1066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3400" y="4248299"/>
            <a:ext cx="82387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Milestones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3400" y="4511129"/>
            <a:ext cx="19285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Website live, 100+ waitlist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595563" y="4511129"/>
            <a:ext cx="19285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 5 deposits secured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57725" y="4511129"/>
            <a:ext cx="19285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9: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10+ trips booked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719888" y="4511129"/>
            <a:ext cx="19285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12: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15+ trips complete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Mitigation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1066800"/>
            <a:ext cx="4110782" cy="548580"/>
          </a:xfrm>
          <a:prstGeom prst="roundRect">
            <a:avLst>
              <a:gd name="adj" fmla="val 1041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181100"/>
            <a:ext cx="39598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Risk: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Pre-launch validation with 500+ waitlist; corporate market backup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691580"/>
            <a:ext cx="4110782" cy="548580"/>
          </a:xfrm>
          <a:prstGeom prst="roundRect">
            <a:avLst>
              <a:gd name="adj" fmla="val 1041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1805880"/>
            <a:ext cx="39598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Risk: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On-ground founder; 200 events experience; vendor redundancy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316361"/>
            <a:ext cx="4110782" cy="548580"/>
          </a:xfrm>
          <a:prstGeom prst="roundRect">
            <a:avLst>
              <a:gd name="adj" fmla="val 1041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300" y="2430661"/>
            <a:ext cx="39598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Risk: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Deposits cover CAC; full payment before trip; working capital buffer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941141"/>
            <a:ext cx="4110782" cy="548580"/>
          </a:xfrm>
          <a:prstGeom prst="roundRect">
            <a:avLst>
              <a:gd name="adj" fmla="val 1041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5300" y="3055441"/>
            <a:ext cx="39598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Risk: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First-mover advantage; relationship moat; differentiated positioning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82282" y="1066800"/>
            <a:ext cx="4080718" cy="3743325"/>
          </a:xfrm>
          <a:prstGeom prst="roundRect">
            <a:avLst>
              <a:gd name="adj" fmla="val 2036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2782" y="1257300"/>
            <a:ext cx="37737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Risk is Manageable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052864" y="1590675"/>
            <a:ext cx="31476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cost model—no fixed overhead until proven demand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52864" y="1845915"/>
            <a:ext cx="25793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Cash-positive structure—deposits fund operations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52864" y="2101155"/>
            <a:ext cx="27475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Government-backed tourism growth creates tailwinds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52864" y="2356396"/>
            <a:ext cx="19443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at just 8-10 trips in Year 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6721" y="834479"/>
            <a:ext cx="34705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3066098" y="1129754"/>
            <a:ext cx="30118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Ask: $50,000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3952875" y="1720304"/>
            <a:ext cx="1238250" cy="1905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36721" y="1929854"/>
            <a:ext cx="3470559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85"/>
              </a:lnSpc>
              <a:spcAft>
                <a:spcPts val="1800"/>
              </a:spcAft>
              <a:buNone/>
            </a:pPr>
            <a:r>
              <a:rPr lang="en-US" sz="12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investor in a $41B market opportunity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3218137" y="2385120"/>
            <a:ext cx="6348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C8C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18137" y="2733675"/>
            <a:ext cx="6348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Cap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094411" y="2385120"/>
            <a:ext cx="9525" cy="48190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47395" y="2385120"/>
            <a:ext cx="42748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47395" y="2733675"/>
            <a:ext cx="4274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18336" y="2385120"/>
            <a:ext cx="9525" cy="48190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69069" y="2385120"/>
            <a:ext cx="65701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~$8K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69069" y="2733675"/>
            <a:ext cx="657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Trip Value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836721" y="3152775"/>
            <a:ext cx="34705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 Winfield • steve@nyngolf.com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6721" y="3387030"/>
            <a:ext cx="34705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www.nyngolf.com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NYN Golf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NYN Golf - Founding Investor Presentation</dc:title>
  <dc:subject>PptxGenJS Presentation</dc:subject>
  <dc:creator>Steve Winfield</dc:creator>
  <cp:lastModifiedBy>Steve Winfield</cp:lastModifiedBy>
  <cp:revision>1</cp:revision>
  <dcterms:created xsi:type="dcterms:W3CDTF">2026-01-01T21:17:39Z</dcterms:created>
  <dcterms:modified xsi:type="dcterms:W3CDTF">2026-01-01T21:17:39Z</dcterms:modified>
</cp:coreProperties>
</file>